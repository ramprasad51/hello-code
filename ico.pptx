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0124" y="452284"/>
            <a:ext cx="4416552" cy="6105831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Parliament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Parliamentary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8A01E"/>
                </a:solidFill>
                <a:latin typeface="Calibri"/>
              </a:rPr>
              <a:t>Procedures of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3200400" cy="54864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BCCFF"/>
                </a:solidFill>
                <a:latin typeface="Calibri"/>
              </a:rPr>
              <a:t>A Comprehensive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BB"/>
                </a:solidFill>
                <a:latin typeface="Calibri"/>
              </a:rPr>
              <a:t>Overview  •  Committees  •  Terminologies  •  Legislation  •  Powers  •  Speaker &amp; Chairman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3B33CE-ADC7-1672-B66D-63559DDED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489" y="740369"/>
            <a:ext cx="4155821" cy="3274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Overview of Parliament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  <a:latin typeface="Calibri"/>
              </a:rPr>
              <a:t>Lok Sabha and Rajya Sabha — India's Bicameral Legislature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F7C"/>
                </a:solidFill>
                <a:latin typeface="Calibri"/>
              </a:rPr>
              <a:t>India's Parliament (Sansad) consists of the President, Lok Sabha (Lower House) and Rajya Sabha (Upper House). It is the supreme legislative body of the Republic of India, located in New Delhi.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🏛  LOK SABHA  —  House of the 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Composition: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96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Max 552 members (530 states, 20 UTs, 2 Anglo-Indian nominated – now abolished)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53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Current Strength: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535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543 elected constituencies across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4107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Qualification: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410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Indian citizen, min. 25 years old, voter in any parliamentary constituency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679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Term: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867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5 years (can be dissolved earlier by President on PM's advice)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25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Speaker: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3251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Elected from members; presides over sessions, maintains 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782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Sessions: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Budget (Feb–May), Monsoon (Jul–Aug), Winter (Nov–Dec)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52120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239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Special Powers: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2395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Money Bills exclusively introduced; Vote of No Confidence; Final say on budget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669280"/>
            <a:ext cx="5303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5669280"/>
            <a:ext cx="64008" cy="429768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56967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7"/>
                </a:solidFill>
                <a:latin typeface="Calibri"/>
              </a:rPr>
              <a:t>Quorum: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5696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1/10th of total membership (55 members)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1965960"/>
            <a:ext cx="5486400" cy="411480"/>
          </a:xfrm>
          <a:prstGeom prst="rect">
            <a:avLst/>
          </a:prstGeom>
          <a:solidFill>
            <a:srgbClr val="0A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🏛  RAJYA SABHA  —  Council of States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688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24688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24963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Composition: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496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Maximum 250 members (238 elected + 12 President-nominated)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9260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29260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29535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Current Strength: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2953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245 members (233 elected from states/UTs, 12 nominated)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832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09360" y="33832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34107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Qualification: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34107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Indian citizen, min. 30 years old, registered voter in relevant state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8404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09360" y="38404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46520" y="38679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Term: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38679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Permanent body; members serve 6-year terms, 1/3rd retire every 2 years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2976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09360" y="42976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4325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Chairman: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4325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Vice President of India is ex-officio Chairman; Deputy Chairman elected by members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7548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309360" y="47548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46520" y="47823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Election: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4782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Indirectly elected by elected members of State Legislative Assemblies (STV method)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52120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09360" y="52120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52395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Special Powers: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09560" y="5239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Can pass resolution to create All-India Services (Art. 312); ratify constitutional amendments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69280"/>
            <a:ext cx="5486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309360" y="5669280"/>
            <a:ext cx="64008" cy="429768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46520" y="56967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4A"/>
                </a:solidFill>
                <a:latin typeface="Calibri"/>
              </a:rPr>
              <a:t>Quorum: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56967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1/10th of total membership (25 members)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Parliamentary Committees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  <a:latin typeface="Calibri"/>
              </a:rPr>
              <a:t>Standing Bodies that Support Legislative, Financial &amp; Oversight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F7C"/>
                </a:solidFill>
                <a:latin typeface="Calibri"/>
              </a:rPr>
              <a:t>Parliamentary Committees are smaller bodies of MPs that examine bills, oversee government functioning, and assist Parliament in detailed legislative and financial scrutiny.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347472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Standing Committees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6712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Public Accounts Committee (PAC): Reviews government expenditure &amp; audit reports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Estimates Committee: Examines budget estimates for economy &amp; efficiency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Committee on Public Undertakings (COPU): Oversees public sector enterprises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Departmentally Related Standing Committees (DRSCs): 24 committees covering all ministries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8308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783080"/>
            <a:ext cx="3749039" cy="3474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82880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Ad-Hoc Committees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6712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Select/Joint Committees on Bills: Detailed scrutiny of specific bills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Joint Parliamentary Committees (JPCs): Investigate specific matters of public importance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Dissolution-proof: JPC continues even if Lok Sabha is dissolved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Example: JPC on 2G Spectrum, JPC on Pesticides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749039" cy="347472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82880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Financial Committees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6712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PAC: Most powerful; verifies proper use of Parliament-granted funds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Traditionally chaired by Leader of Opposition in Lok Sabha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Estimates Committee: 30 members only from Lok Sabha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Reports submitted to Parliament; government must give Action Taken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4340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3749039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438912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Other Important Committees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72744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Business Advisory Committee (BAC): Regulates Parliament time-table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Rules Committee: Frames rules of procedure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Committee on Privileges: Investigates privilege breaches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Committee on Ethics: Examines misconduct by members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434340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4343400"/>
            <a:ext cx="3749039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438912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Joint Committees (Both Houses)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72744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Joint Committee on Offices of Profit: Checks disqualifications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Joint Committee on Salaries &amp; Allowances of MPs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Joint Committee on Food Management in Parliament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Library Committee: Manages Parliament library &amp; research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343400"/>
            <a:ext cx="3749039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4343400"/>
            <a:ext cx="3749039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7" y="438912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Committee Powers &amp;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727448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 summon ministers, officials &amp; documents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Hold hearings; invite public / expert testimony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Reports are persuasive but NOT legally binding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Enable deep scrutiny impossible on full House floor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Important Parliamentary Terminologies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  <a:latin typeface="Calibri"/>
              </a:rPr>
              <a:t>Key Terms Every Student of Indian Polity Must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Question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First hour of every sitting. Members ask oral questions to ministers. Starred ★ questions get oral reply; Unstarred questions get written reply.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4300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1887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Zero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Informal device from 12:00 noon onwards. Members raise matters of urgent public importance without prior notice. Not mentioned in Rules of Procedure.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Adjournment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Seeks to adjourn normal business to discuss a matter of urgent public importance. Requires leave of the House (50 members' support). Only in Lok Sabha.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39112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039112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Censure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1343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Moved against a specific minister(s) for their acts. If passed, minister need not resign. Different from No-Confidence Motion.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039112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2039112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208483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No-Confidence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31343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Also called Vote of No Confidence. Moved only in Lok Sabha. If passed, entire Council of Ministers must resign. Needs 50 members' support to admit.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039112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2039112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208483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Calling Attention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1343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A member calls minister's attention to an urgent public matter. Minister makes a brief statement; further discussion may follow.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935224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2935224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98094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Guillotine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209544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Process of putting all outstanding demands for grants to vote without discussion when time runs out. Applied in financial business.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935224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0" y="2935224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298094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Closure 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209544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A motion to immediately stop debate on a bill/matter. Types: Simple Closure, Kangaroo, Guillotine, Compartmental Closure.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935224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2440" y="2935224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298094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Whip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209544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A direction issued by party to its members on voting. Party 'whip' ensures members follow party line. Violating leads to disqualification under Anti-Defection Law.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31335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831335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87705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Point of 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05655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Member raises a point during debate claiming a breach of parliamentary rules. Speaker decides; debate suspended till ruling.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3831335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06240" y="3831335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387705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Short Duration Discussion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105655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Discussion lasting not more than 2.5 hours on a matter of urgent public importance. No formal motion; no voting.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3831335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092440" y="3831335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3877055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Cut Motions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105655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Motions to reduce the amount of demand for grants. Types: (1) Disapproval of Policy Cut, (2) Economy Cut, (3) Token Cut.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727448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4727448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77316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Privilege Motion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0017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Moved by a member when parliamentary privilege is breached by a minister or member. Can lead to censure or suspension.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4727448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06240" y="4727448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3400" y="477316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Prorogation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50017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Termination of a session of Parliament by President. Pending bills/notices lapse EXCEPT Money Bills and pending committee reports.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92440" y="4727448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92440" y="4727448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77316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Dissolution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0017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End of Lok Sabha's term or early dissolution by President. All pending business lapses. Rajya Sabha is never dissolved.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62356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0040" y="562356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56692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Recess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8978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Break within a session. Parliament stands adjourned. Business resumes after recess. Bills and notices do NOT lapse.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562356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206240" y="562356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43400" y="56692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Sine Die Adjournment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3400" y="58978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Adjournment without fixing any future date. Effectively ends the session until President summons next session.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623560"/>
            <a:ext cx="3749039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092440" y="5623560"/>
            <a:ext cx="64008" cy="80467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0" y="56692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Parliamentary Privilege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58978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Special rights and immunities of Parliament and its members. Freedom of speech in House cannot be questioned in any court.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Legislative Processes in Parliament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  <a:latin typeface="Calibri"/>
              </a:rPr>
              <a:t>How Laws are Made — From Bill Introduction to Presidential Assent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029200" cy="36576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TYPES OF BILLS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64008" cy="62179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910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Ordinary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Can be introduced in either house. If deadlock between houses → Joint Sitting. Needs simple majority.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21991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221991"/>
            <a:ext cx="64008" cy="62179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585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Money Bill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1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Only in Lok Sabha. Rajya Sabha can only delay 14 days. Certified by Speaker. Deals with taxation, expenditure from Consolidated Fund.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89503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889503"/>
            <a:ext cx="64008" cy="62179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926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Financial Bill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3823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7C"/>
                </a:solidFill>
                <a:latin typeface="Calibri"/>
              </a:rPr>
              <a:t>Introduced only in Lok Sabha. Two types: Category A (like Money Bill, needs President's recommendation) and Category B (ordinary bill treatment).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57015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557015"/>
            <a:ext cx="64008" cy="62179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5935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Constitution Amendment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31335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D4F7C"/>
                </a:solidFill>
                <a:latin typeface="Calibri"/>
              </a:rPr>
              <a:t>Under Article 368. Special majority needed (2/3rd of members present &amp; voting + majority of total membership). Certain provisions need state ratification also.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097280"/>
            <a:ext cx="6263640" cy="365760"/>
          </a:xfrm>
          <a:prstGeom prst="rect">
            <a:avLst/>
          </a:prstGeom>
          <a:solidFill>
            <a:srgbClr val="0A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1124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STAGES OF A BILL (Ordinary)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1572768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69280" y="1664208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16642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6093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1st Reading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1965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Bill introduced by Minister/Private Member. Title read, no debate. Copies distributed.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176272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69280" y="2267712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22677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2128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2nd Reading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4231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General discussion on principles. Then referred to Select/Joint Committee or considered directly. Most important stage.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779776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69280" y="2871216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0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8163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Committee Stage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02666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Clause-by-clause examination. Amendments proposed. Report presented to House.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383280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669280" y="3474720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0" y="3474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4198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3rd Reading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6301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Final stage. Only verbal/formal amendments allowed. Bill passed or rejected by vote.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3986784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669280" y="4078224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0" y="40782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0233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Other House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23367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Bill goes to other house; same three readings. Can be rejected, amended, or passed.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590288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669280" y="4681728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0" y="4681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6268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Joint Sitting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83717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If houses disagree → President summons joint sitting (Art. 108). Simple majority. Speaker of Lok Sabha presides.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5193792"/>
            <a:ext cx="626364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669280" y="5285232"/>
            <a:ext cx="384048" cy="384048"/>
          </a:xfrm>
          <a:prstGeom prst="ellipse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52852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2303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Presidential Assent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4406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F7C"/>
                </a:solidFill>
                <a:latin typeface="Calibri"/>
              </a:rPr>
              <a:t>President gives assent, withholds assent, or returns (not Money Bill). Bill becomes Act after assent.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Legislative Powers of Parliament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BBCCFF"/>
                </a:solidFill>
                <a:latin typeface="Calibri"/>
              </a:rPr>
              <a:t>Constitutional Provisions, Schedules &amp; Extraordinary Powers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8436" y="1543739"/>
            <a:ext cx="2926080" cy="16643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endParaRPr lang="en-US" sz="1000" dirty="0">
              <a:solidFill>
                <a:srgbClr val="3D4F7C"/>
              </a:solidFill>
            </a:endParaRP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100 subjects (originally 97) exclusively with Parliament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Defense, foreign affairs, atomic energy, railways, banking, currency, Union PSUs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Parliament has exclusive and overriding authority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Any state law on Union List subject is void to extent of repugnancy</a:t>
            </a:r>
          </a:p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926080" cy="329184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Union List (List 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40" y="1545336"/>
            <a:ext cx="2926080" cy="17070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52 subjects (originally 47) where both Parliament and States can legislate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Education, marriage, criminal law, forests, labour, price control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If conflict → Parliamentary law prevails (Art. 254)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State law can operate with Presidential assent (Art. 254(2))</a:t>
            </a:r>
          </a:p>
          <a:p>
            <a:pPr algn="r"/>
            <a:endParaRPr sz="1000" dirty="0"/>
          </a:p>
        </p:txBody>
      </p:sp>
      <p:sp>
        <p:nvSpPr>
          <p:cNvPr id="11" name="Rectangle 10"/>
          <p:cNvSpPr/>
          <p:nvPr/>
        </p:nvSpPr>
        <p:spPr>
          <a:xfrm>
            <a:off x="3383280" y="1115568"/>
            <a:ext cx="2926080" cy="32918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1612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Concurrent List (List III)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4916" y="1509768"/>
            <a:ext cx="2926080" cy="17425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</a:t>
            </a:r>
            <a:r>
              <a:rPr lang="en-US" dirty="0">
                <a:solidFill>
                  <a:srgbClr val="3D4F7C"/>
                </a:solidFill>
              </a:rPr>
              <a:t> </a:t>
            </a:r>
            <a:r>
              <a:rPr lang="en-US" sz="1100" dirty="0">
                <a:solidFill>
                  <a:srgbClr val="3D4F7C"/>
                </a:solidFill>
              </a:rPr>
              <a:t>Subjects NOT in any list → Parliament has exclusive power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Entry 97 of Union List: Residuary powers vested in Parliament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Cyber law, GST initially covered under residuary powers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Stronger Centre than USA &amp; Australia (where residue is with states</a:t>
            </a:r>
            <a:endParaRPr sz="1100" dirty="0"/>
          </a:p>
        </p:txBody>
      </p:sp>
      <p:sp>
        <p:nvSpPr>
          <p:cNvPr id="15" name="Rectangle 14"/>
          <p:cNvSpPr/>
          <p:nvPr/>
        </p:nvSpPr>
        <p:spPr>
          <a:xfrm>
            <a:off x="6446520" y="1115568"/>
            <a:ext cx="2926080" cy="329184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11612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Residuary Powers (Art. 248)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18" y="1282073"/>
            <a:ext cx="2889522" cy="1926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endParaRPr lang="en-US" sz="1100" dirty="0">
              <a:solidFill>
                <a:srgbClr val="3D4F7C"/>
              </a:solidFill>
            </a:endParaRP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Under Article 249: Rajya Sabha passes resolution (2/3rd) → Parliament legislates on State List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Art. 250: During National Emergency, Parliament extends to State List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Art. 252: On request of two or more states (becomes center's domain)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Art. 253: To implement international treaties &amp; agreements</a:t>
            </a:r>
          </a:p>
          <a:p>
            <a:pPr algn="ctr"/>
            <a:endParaRPr sz="1100" dirty="0"/>
          </a:p>
        </p:txBody>
      </p:sp>
      <p:sp>
        <p:nvSpPr>
          <p:cNvPr id="19" name="Rectangle 18"/>
          <p:cNvSpPr/>
          <p:nvPr/>
        </p:nvSpPr>
        <p:spPr>
          <a:xfrm>
            <a:off x="9441180" y="1077214"/>
            <a:ext cx="2926080" cy="329184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1144913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Power Over State 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9198" y="3619572"/>
            <a:ext cx="2926080" cy="19700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Article 368: Parliament can amend any part of Constitution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Basic Structure Doctrine (Kesavananda Bharati, 1973): Parliament cannot alter basic structure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Simple majority: New states, names, boundaries (Art. 4)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Special majority: Most fundamental rights, directive principles, amendment procedure itself</a:t>
            </a:r>
            <a:endParaRPr sz="1100" dirty="0"/>
          </a:p>
        </p:txBody>
      </p:sp>
      <p:sp>
        <p:nvSpPr>
          <p:cNvPr id="23" name="Rectangle 22"/>
          <p:cNvSpPr/>
          <p:nvPr/>
        </p:nvSpPr>
        <p:spPr>
          <a:xfrm>
            <a:off x="251333" y="3267972"/>
            <a:ext cx="2926080" cy="329184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308420" y="3319273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Constitutional Amendment Power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4445" y="3694249"/>
            <a:ext cx="2926080" cy="17070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No tax levied without Parliamentary authority (Art. 265)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No expenditure from Consolidated Fund without Parliament approval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Money Bills exclusively introduced in Lok Sabha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Rajya Sabha cannot amend/reject Money Bills; only recommend changes (14-day limit)</a:t>
            </a:r>
          </a:p>
          <a:p>
            <a:pPr algn="ctr"/>
            <a:endParaRPr sz="1100" dirty="0"/>
          </a:p>
        </p:txBody>
      </p:sp>
      <p:sp>
        <p:nvSpPr>
          <p:cNvPr id="27" name="Rectangle 26"/>
          <p:cNvSpPr/>
          <p:nvPr/>
        </p:nvSpPr>
        <p:spPr>
          <a:xfrm>
            <a:off x="3337560" y="3314366"/>
            <a:ext cx="292608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352428" y="333131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Financial Powers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2823" y="3726678"/>
            <a:ext cx="2926080" cy="16745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Council of Ministers collectively responsible to Lok Sabha (Art. 75(3))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Question Hour, Zero Hour, Calling Attention, Adjournment Motions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No-Confidence Motion: Most extreme tool; causes government fall if passed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Parliamentary committees scrutinize ministries and audit reports</a:t>
            </a:r>
          </a:p>
          <a:p>
            <a:pPr algn="ctr"/>
            <a:endParaRPr sz="1100" dirty="0"/>
          </a:p>
        </p:txBody>
      </p:sp>
      <p:sp>
        <p:nvSpPr>
          <p:cNvPr id="31" name="Rectangle 30"/>
          <p:cNvSpPr/>
          <p:nvPr/>
        </p:nvSpPr>
        <p:spPr>
          <a:xfrm>
            <a:off x="6452823" y="3315199"/>
            <a:ext cx="2926080" cy="329184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3787" y="3346911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Control Over Executive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6006" y="3721352"/>
            <a:ext cx="2926080" cy="1693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Impeachment of President (Art. 61) by both Houses sitting separately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Removal of Vice President: Rajya Sabha resolution + Lok Sabha agreement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Removal of Judges of Supreme Court &amp; High Courts (Art. 124/218)</a:t>
            </a:r>
          </a:p>
          <a:p>
            <a:pPr algn="ctr">
              <a:spcBef>
                <a:spcPts val="200"/>
              </a:spcBef>
            </a:pPr>
            <a:r>
              <a:rPr lang="en-US" sz="1100" dirty="0">
                <a:solidFill>
                  <a:srgbClr val="3D4F7C"/>
                </a:solidFill>
              </a:rPr>
              <a:t>▸ Punishment for breach of parliamentary privilege</a:t>
            </a:r>
          </a:p>
          <a:p>
            <a:pPr algn="ctr"/>
            <a:endParaRPr sz="1100" dirty="0"/>
          </a:p>
        </p:txBody>
      </p:sp>
      <p:sp>
        <p:nvSpPr>
          <p:cNvPr id="35" name="Rectangle 34"/>
          <p:cNvSpPr/>
          <p:nvPr/>
        </p:nvSpPr>
        <p:spPr>
          <a:xfrm>
            <a:off x="9441180" y="3283749"/>
            <a:ext cx="2788920" cy="329184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61576" y="3346911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Judicial Powers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Speaker &amp; Chairman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  <a:latin typeface="Calibri"/>
              </a:rPr>
              <a:t>Role of Speaker of Lok Sabha and Chairman of Rajya Sabha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D4F7C"/>
                </a:solidFill>
                <a:latin typeface="Calibri"/>
              </a:rPr>
              <a:t>The Speaker and Chairman are the presiding officers of their respective Houses. They maintain order, regulate proceedings, and are constitutional functionaries with significant powers.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5715000" cy="384048"/>
          </a:xfrm>
          <a:prstGeom prst="rect">
            <a:avLst/>
          </a:prstGeom>
          <a:solidFill>
            <a:srgbClr val="1A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🏛  SPEAKER OF LOK SABHA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58568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258568"/>
            <a:ext cx="64008" cy="1005840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Election &amp; 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Elected by Lok Sabha from its members by simple majority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Holds office during life of House (5 years); re-election possible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 be removed by effective majority (50%+1 of total membership) after 14-day notice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Pro-tem Speaker appointed by President to administer oath to new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10128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310128"/>
            <a:ext cx="64008" cy="1005840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46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Constitutional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First among equals in Lok Sabha; guardian of members' rights and privileges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Certifies Money Bills under Article 110 (conclusive; cannot be challenged in court)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Presides over Joint Sitting of both Houses (Article 118)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Anti-defection decisions under 10th Schedule (final; judicial review limited)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61688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361688"/>
            <a:ext cx="64008" cy="1005840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98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Powers &amp;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Allots time for debates; selects amendments; regulates Question Hour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Decides admissibility of motions, questions, and notices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Maintains decorum; can expunge remarks from parliamentary record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Does NOT vote in first instance; has casting vote only in tie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13248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413248"/>
            <a:ext cx="64008" cy="1005840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4498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7"/>
                </a:solidFill>
                <a:latin typeface="Calibri"/>
              </a:rPr>
              <a:t>Important Conventions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Speaker resigns party membership on election (convention, not law)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Speaker does not appear before any court while in office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Cannot preside when motion for own removal is under consideration (Deputy Speaker presides)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Speaker's salary charged to Consolidated Fund of India (not subject to annual vote)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83080"/>
            <a:ext cx="5623560" cy="384048"/>
          </a:xfrm>
          <a:prstGeom prst="rect">
            <a:avLst/>
          </a:prstGeom>
          <a:solidFill>
            <a:srgbClr val="0A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810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🏛  CHAIRMAN OF RAJYA SABHA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258568"/>
            <a:ext cx="5623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2258568"/>
            <a:ext cx="64008" cy="1005840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295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4A"/>
                </a:solidFill>
                <a:latin typeface="Calibri"/>
              </a:rPr>
              <a:t>Election &amp; Tenure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14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Ex-officio Chairman: Vice President of India (Art. 64, 89)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Deputy Chairman elected by Rajya Sabha members from among themselves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Chairman holds office as long as he is Vice President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 be removed only by removal of Vice President (Art. 67(b))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10128"/>
            <a:ext cx="5623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310128"/>
            <a:ext cx="64008" cy="1005840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346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4A"/>
                </a:solidFill>
                <a:latin typeface="Calibri"/>
              </a:rPr>
              <a:t>Constitutional 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661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Presides over sessions of Rajya Sabha; maintains order and decorum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Interprets Rajya Sabha rules and conventions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Unlike Speaker, Chairman cannot certify Money Bills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Does not preside over Joint Sitting (Speaker of Lok Sabha does so)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361688"/>
            <a:ext cx="5623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361688"/>
            <a:ext cx="64008" cy="1005840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398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4A"/>
                </a:solidFill>
                <a:latin typeface="Calibri"/>
              </a:rPr>
              <a:t>Powers &amp; Functions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Decides admissibility of questions, notices, motions in Rajya Sabha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Allots time; recognizes speakers during debates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Does NOT vote in first instance; casting vote only in tie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 allow members to speak in regional languages (with translation)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413248"/>
            <a:ext cx="56235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63640" y="5413248"/>
            <a:ext cx="64008" cy="1005840"/>
          </a:xfrm>
          <a:prstGeom prst="rect">
            <a:avLst/>
          </a:prstGeom>
          <a:solidFill>
            <a:srgbClr val="13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54498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4A"/>
                </a:solidFill>
                <a:latin typeface="Calibri"/>
              </a:rPr>
              <a:t>Key Differences from Speaker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6692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Cannot certify Money Bills (Speaker's exclusive power)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Is NOT elected from Rajya Sabha members — ex-officio VP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Cannot be removed by Rajya Sabha alone — needs VP removal process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D4F7C"/>
                </a:solidFill>
                <a:latin typeface="Calibri"/>
              </a:rPr>
              <a:t>▸ Does not preside over Joint Sitting; Speaker does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FF6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20040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4832948"/>
            <a:ext cx="8412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 dirty="0">
                <a:solidFill>
                  <a:srgbClr val="FFFF00"/>
                </a:solidFill>
                <a:latin typeface="Calibri"/>
              </a:rPr>
              <a:t>"Parliament is the living symbol of democratic India — where the nation's voice translates into law."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1975142-EA2F-CF96-993D-ED4D87BF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16" y="1191904"/>
            <a:ext cx="5879689" cy="3185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2325</Words>
  <Application>Microsoft Office PowerPoint</Application>
  <PresentationFormat>Custom</PresentationFormat>
  <Paragraphs>236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Shivkumar KM</dc:creator>
  <cp:keywords/>
  <dc:description>generated using python-pptx</dc:description>
  <cp:lastModifiedBy>Shivkumar KM</cp:lastModifiedBy>
  <cp:revision>3</cp:revision>
  <dcterms:created xsi:type="dcterms:W3CDTF">2013-01-27T09:14:16Z</dcterms:created>
  <dcterms:modified xsi:type="dcterms:W3CDTF">2026-04-26T06:40:51Z</dcterms:modified>
  <cp:category/>
</cp:coreProperties>
</file>